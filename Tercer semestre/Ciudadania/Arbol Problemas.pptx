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90" r:id="rId6"/>
    <p:sldId id="291" r:id="rId7"/>
    <p:sldId id="293" r:id="rId8"/>
    <p:sldId id="295" r:id="rId9"/>
    <p:sldId id="297" r:id="rId10"/>
  </p:sldIdLst>
  <p:sldSz cx="12192000" cy="6858000"/>
  <p:notesSz cx="6858000" cy="9144000"/>
  <p:custDataLst>
    <p:tags r:id="rId12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2B"/>
    <a:srgbClr val="FCD896"/>
    <a:srgbClr val="D9A900"/>
    <a:srgbClr val="007B3E"/>
    <a:srgbClr val="8FCA40"/>
    <a:srgbClr val="6DB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750" autoAdjust="0"/>
    <p:restoredTop sz="94694"/>
  </p:normalViewPr>
  <p:slideViewPr>
    <p:cSldViewPr snapToGrid="0" snapToObjects="1">
      <p:cViewPr varScale="1">
        <p:scale>
          <a:sx n="82" d="100"/>
          <a:sy n="82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6F431-B84B-4941-A6A5-59A029A1D779}" type="datetimeFigureOut">
              <a:rPr lang="es-CO" smtClean="0"/>
              <a:t>16/05/2025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D793D-8743-48AC-8BF0-C93D087BA2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39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73109-C8B3-224C-969F-0F6EB2FC9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670" y="868362"/>
            <a:ext cx="5049795" cy="543358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7FCB43-AB36-D248-8C78-F5960715F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3664" y="868361"/>
            <a:ext cx="5391665" cy="5433583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7685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1E510-7C13-A846-B37A-BA946E44F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26" y="790832"/>
            <a:ext cx="4843369" cy="538613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D99FA2-4AC8-0840-B4AD-C7FE91C41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5512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2770C-0E60-D64B-9222-9BFF65FC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7A42B7-C907-5D43-B9A7-A6CFAE4AE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30317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15BF1-7411-FC42-82FC-A54A6AC12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26" y="951471"/>
            <a:ext cx="4843369" cy="258256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9CD133-7095-834F-B9A6-1F850D71C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594399"/>
            <a:ext cx="4843369" cy="2582563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4E5179-34CE-E04D-8E27-6837B56AD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51471"/>
            <a:ext cx="5181600" cy="522549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1756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E5C39-2DA5-AF44-BF69-B2D05990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818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C6CBF-44A7-044E-BA04-F17776308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6422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5EB88C-31ED-F340-8270-66AAE00E1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888135"/>
            <a:ext cx="5157787" cy="34632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A12139-7A0C-794B-A4CD-07147C907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6422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84DF1F-B468-BD4D-80C3-787FFE9C8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88135"/>
            <a:ext cx="5183188" cy="34632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2472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1CA8C-25A9-6E41-856C-BE362E1D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26" y="790832"/>
            <a:ext cx="4843369" cy="538613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8371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6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54FF6-3CF2-D347-98CD-18BB32092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45292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A72D87-3390-FB47-8FFD-2B6A19472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1D3486-0C25-4049-ABF3-912F112D5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45492"/>
            <a:ext cx="3932237" cy="33234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1092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E4F92-C65A-2F43-8033-8D9CBCBB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4D0887-8484-2F42-9B7A-393B858E0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123ED5-FA0D-1E45-BD02-DB15D7017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7624"/>
            <a:ext cx="3932237" cy="3281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5630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70F56-2E55-1946-9E67-6334CC2D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26" y="790832"/>
            <a:ext cx="4843369" cy="5386131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47BB3F-16DC-A049-85B9-6385A272A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153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F433EE-6556-7D4B-9DB2-471F09A21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90831"/>
            <a:ext cx="2628900" cy="5386131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92CDC9-4FE9-9340-A3F9-23CC01DC6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90831"/>
            <a:ext cx="7734300" cy="5386131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9830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DA6EC2-A3F6-0C4A-921D-AEEFCF6D3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5957" y="790832"/>
            <a:ext cx="5397843" cy="53861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ES_tradnl" dirty="0"/>
          </a:p>
        </p:txBody>
      </p:sp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D0F565D-6F85-B14C-B707-DEF86B77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0832"/>
            <a:ext cx="5117757" cy="5386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8517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DB609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vara&#10;&#10;Descripción generada automáticamente">
            <a:extLst>
              <a:ext uri="{FF2B5EF4-FFF2-40B4-BE49-F238E27FC236}">
                <a16:creationId xmlns:a16="http://schemas.microsoft.com/office/drawing/2014/main" id="{A8BDF1B2-1E88-9BD0-6024-F58AED3AC7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A30C468-4C99-B245-931A-0F640A313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8977" y="821093"/>
            <a:ext cx="4877088" cy="2561327"/>
          </a:xfrm>
        </p:spPr>
        <p:txBody>
          <a:bodyPr anchor="b">
            <a:noAutofit/>
          </a:bodyPr>
          <a:lstStyle/>
          <a:p>
            <a:pPr algn="ctr"/>
            <a:r>
              <a:rPr lang="es-419" sz="3200" dirty="0">
                <a:solidFill>
                  <a:schemeClr val="bg1"/>
                </a:solidFill>
                <a:latin typeface="Lato" panose="020F0502020204030203" pitchFamily="34" charset="0"/>
              </a:rPr>
              <a:t>Actividad</a:t>
            </a:r>
            <a:r>
              <a:rPr lang="es-419" sz="3200" b="0" dirty="0">
                <a:solidFill>
                  <a:schemeClr val="bg1"/>
                </a:solidFill>
                <a:latin typeface="Lato" panose="020F0502020204030203" pitchFamily="34" charset="0"/>
              </a:rPr>
              <a:t>:  Árbol de problemas</a:t>
            </a:r>
            <a:br>
              <a:rPr lang="es-419" sz="3200" dirty="0">
                <a:solidFill>
                  <a:schemeClr val="bg1"/>
                </a:solidFill>
                <a:latin typeface="Lato" panose="020F0502020204030203" pitchFamily="34" charset="0"/>
              </a:rPr>
            </a:br>
            <a:r>
              <a:rPr lang="es-419" sz="3200" b="0" dirty="0">
                <a:solidFill>
                  <a:schemeClr val="bg1"/>
                </a:solidFill>
                <a:latin typeface="Lato" panose="020F0502020204030203" pitchFamily="34" charset="0"/>
              </a:rPr>
              <a:t>¡Soy </a:t>
            </a:r>
            <a:r>
              <a:rPr lang="es-419" sz="4000" dirty="0" err="1">
                <a:solidFill>
                  <a:srgbClr val="00482B"/>
                </a:solidFill>
                <a:latin typeface="Lato" panose="020F0502020204030203" pitchFamily="34" charset="0"/>
              </a:rPr>
              <a:t>UCundinamarca</a:t>
            </a:r>
            <a:r>
              <a:rPr lang="es-419" sz="3200" dirty="0">
                <a:solidFill>
                  <a:schemeClr val="bg1"/>
                </a:solidFill>
                <a:latin typeface="Lato" panose="020F0502020204030203" pitchFamily="34" charset="0"/>
              </a:rPr>
              <a:t>, </a:t>
            </a:r>
            <a:r>
              <a:rPr lang="es-419" sz="3200" b="0" dirty="0">
                <a:solidFill>
                  <a:schemeClr val="bg1"/>
                </a:solidFill>
                <a:latin typeface="Lato" panose="020F0502020204030203" pitchFamily="34" charset="0"/>
              </a:rPr>
              <a:t>soy ciudadano del Siglo 21!</a:t>
            </a:r>
            <a:endParaRPr lang="es-ES_tradnl" sz="32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pic>
        <p:nvPicPr>
          <p:cNvPr id="8" name="Imagen 7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E0BFB685-2008-9605-9801-FF3BA919A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667" y="3769602"/>
            <a:ext cx="1975265" cy="270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4378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orma&#10;&#10;Descripción generada automáticamente con confianza baja">
            <a:extLst>
              <a:ext uri="{FF2B5EF4-FFF2-40B4-BE49-F238E27FC236}">
                <a16:creationId xmlns:a16="http://schemas.microsoft.com/office/drawing/2014/main" id="{73EF9DA4-3D8A-09BB-595E-9C1BC17804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EFC96B7-F997-3342-9C8D-F1285FFBB5E2}"/>
              </a:ext>
            </a:extLst>
          </p:cNvPr>
          <p:cNvSpPr txBox="1"/>
          <p:nvPr/>
        </p:nvSpPr>
        <p:spPr>
          <a:xfrm>
            <a:off x="316234" y="137017"/>
            <a:ext cx="3014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00482B"/>
                </a:solidFill>
                <a:latin typeface="Lato" panose="020F0502020204030203" pitchFamily="34" charset="0"/>
              </a:rPr>
              <a:t>ÁRBOL DE PROBLEMAS</a:t>
            </a:r>
            <a:endParaRPr lang="es-CO" sz="2000" b="1" dirty="0">
              <a:solidFill>
                <a:srgbClr val="00482B"/>
              </a:solidFill>
              <a:latin typeface="Lato" panose="020F0502020204030203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E7C5CC-2714-1F43-9120-5582B3880E22}"/>
              </a:ext>
            </a:extLst>
          </p:cNvPr>
          <p:cNvCxnSpPr/>
          <p:nvPr/>
        </p:nvCxnSpPr>
        <p:spPr>
          <a:xfrm>
            <a:off x="210456" y="711196"/>
            <a:ext cx="1168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2991B17-B6F4-064F-81F1-811766AB6AFA}"/>
              </a:ext>
            </a:extLst>
          </p:cNvPr>
          <p:cNvCxnSpPr/>
          <p:nvPr/>
        </p:nvCxnSpPr>
        <p:spPr>
          <a:xfrm>
            <a:off x="203200" y="4684222"/>
            <a:ext cx="1168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E8CD0EC-EEAE-B84B-869B-47A2FB01D426}"/>
              </a:ext>
            </a:extLst>
          </p:cNvPr>
          <p:cNvCxnSpPr/>
          <p:nvPr/>
        </p:nvCxnSpPr>
        <p:spPr>
          <a:xfrm>
            <a:off x="210456" y="3871434"/>
            <a:ext cx="1168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AFC465D-1387-654B-93B8-E0840AAA3F77}"/>
              </a:ext>
            </a:extLst>
          </p:cNvPr>
          <p:cNvCxnSpPr>
            <a:cxnSpLocks/>
          </p:cNvCxnSpPr>
          <p:nvPr/>
        </p:nvCxnSpPr>
        <p:spPr>
          <a:xfrm>
            <a:off x="5834740" y="711196"/>
            <a:ext cx="0" cy="60413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5C9FB70-7C57-A145-ACA7-C290480B2157}"/>
              </a:ext>
            </a:extLst>
          </p:cNvPr>
          <p:cNvCxnSpPr/>
          <p:nvPr/>
        </p:nvCxnSpPr>
        <p:spPr>
          <a:xfrm>
            <a:off x="210460" y="6752512"/>
            <a:ext cx="1168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54B2231-559A-CB41-A4C4-44E56F6E30E3}"/>
              </a:ext>
            </a:extLst>
          </p:cNvPr>
          <p:cNvSpPr/>
          <p:nvPr/>
        </p:nvSpPr>
        <p:spPr>
          <a:xfrm>
            <a:off x="6197599" y="1116099"/>
            <a:ext cx="5689597" cy="26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</a:rPr>
              <a:t>EFECTO 1</a:t>
            </a:r>
            <a:endParaRPr lang="es-CO" sz="1400" b="1" dirty="0">
              <a:solidFill>
                <a:schemeClr val="accent1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F6E72E9-FFDE-744D-ADF9-A7B11CE87D95}"/>
              </a:ext>
            </a:extLst>
          </p:cNvPr>
          <p:cNvSpPr/>
          <p:nvPr/>
        </p:nvSpPr>
        <p:spPr>
          <a:xfrm>
            <a:off x="6191977" y="1383077"/>
            <a:ext cx="5695223" cy="5744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0">
                <a:solidFill>
                  <a:srgbClr val="242424"/>
                </a:solidFill>
                <a:effectLst/>
              </a:rPr>
              <a:t>Puede entrar en conflicto con derechos civiles, como el matrimonio igualitario o el aborto.</a:t>
            </a:r>
            <a:endParaRPr lang="es-CO" sz="1200" b="1" dirty="0">
              <a:latin typeface="Avenir Light" panose="02000503020000020003" pitchFamily="2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33C7FBD-C1FC-2C40-9989-8E115531ABFE}"/>
              </a:ext>
            </a:extLst>
          </p:cNvPr>
          <p:cNvSpPr/>
          <p:nvPr/>
        </p:nvSpPr>
        <p:spPr>
          <a:xfrm>
            <a:off x="6197599" y="3971848"/>
            <a:ext cx="5689597" cy="276874"/>
          </a:xfrm>
          <a:prstGeom prst="rect">
            <a:avLst/>
          </a:prstGeom>
          <a:solidFill>
            <a:srgbClr val="FFF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ysClr val="windowText" lastClr="000000"/>
                </a:solidFill>
                <a:latin typeface="Lato" panose="020F0502020204030203" pitchFamily="34" charset="0"/>
              </a:rPr>
              <a:t>Coloque aquí el problema</a:t>
            </a:r>
            <a:endParaRPr lang="es-CO" sz="1400" b="1" dirty="0">
              <a:solidFill>
                <a:sysClr val="windowText" lastClr="000000"/>
              </a:solidFill>
              <a:latin typeface="Lato" panose="020F0502020204030203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EE3F02F-E2C1-F24F-9A7B-FEE1BFC98D7D}"/>
              </a:ext>
            </a:extLst>
          </p:cNvPr>
          <p:cNvSpPr/>
          <p:nvPr/>
        </p:nvSpPr>
        <p:spPr>
          <a:xfrm>
            <a:off x="6197599" y="4248268"/>
            <a:ext cx="5696857" cy="409238"/>
          </a:xfrm>
          <a:prstGeom prst="rect">
            <a:avLst/>
          </a:prstGeom>
          <a:solidFill>
            <a:srgbClr val="FCD8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¿Cómo afecta la ley canónica a nuestra sociedad?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192EB37-D652-2D47-A8D3-AC2A8E1A296D}"/>
              </a:ext>
            </a:extLst>
          </p:cNvPr>
          <p:cNvSpPr/>
          <p:nvPr/>
        </p:nvSpPr>
        <p:spPr>
          <a:xfrm>
            <a:off x="6190338" y="1101308"/>
            <a:ext cx="493487" cy="2828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F0691C4-3F26-AE4D-8145-C02B25EE1707}"/>
              </a:ext>
            </a:extLst>
          </p:cNvPr>
          <p:cNvSpPr/>
          <p:nvPr/>
        </p:nvSpPr>
        <p:spPr>
          <a:xfrm>
            <a:off x="6191976" y="3964692"/>
            <a:ext cx="493487" cy="283575"/>
          </a:xfrm>
          <a:prstGeom prst="rect">
            <a:avLst/>
          </a:prstGeom>
          <a:gradFill flip="none" rotWithShape="1">
            <a:gsLst>
              <a:gs pos="0">
                <a:srgbClr val="D9A900"/>
              </a:gs>
              <a:gs pos="100000">
                <a:srgbClr val="D9A9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91DD881-8E01-7E46-811C-A21F62B768ED}"/>
              </a:ext>
            </a:extLst>
          </p:cNvPr>
          <p:cNvSpPr/>
          <p:nvPr/>
        </p:nvSpPr>
        <p:spPr>
          <a:xfrm>
            <a:off x="6204856" y="1952837"/>
            <a:ext cx="5689597" cy="26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</a:rPr>
              <a:t>EFECTO 2</a:t>
            </a:r>
            <a:endParaRPr lang="es-CO" sz="1400" b="1" dirty="0">
              <a:solidFill>
                <a:schemeClr val="accent1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5115B325-EA18-0047-AD7E-2B6E1AE6A404}"/>
              </a:ext>
            </a:extLst>
          </p:cNvPr>
          <p:cNvSpPr/>
          <p:nvPr/>
        </p:nvSpPr>
        <p:spPr>
          <a:xfrm>
            <a:off x="6191976" y="2220862"/>
            <a:ext cx="5709737" cy="68877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0" i="0" dirty="0">
                <a:solidFill>
                  <a:srgbClr val="242424"/>
                </a:solidFill>
                <a:effectLst/>
              </a:rPr>
              <a:t>Dificulta cambios sociales en temas de género y diversidad.</a:t>
            </a:r>
            <a:endParaRPr lang="es-CO" sz="1200" b="1" dirty="0">
              <a:latin typeface="Avenir Light" panose="02000503020000020003" pitchFamily="2" charset="0"/>
            </a:endParaRP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C559100-2E54-0145-BD08-433AF79C11AE}"/>
              </a:ext>
            </a:extLst>
          </p:cNvPr>
          <p:cNvSpPr/>
          <p:nvPr/>
        </p:nvSpPr>
        <p:spPr>
          <a:xfrm>
            <a:off x="6197595" y="1938045"/>
            <a:ext cx="493487" cy="28281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BA69B82-FC59-F140-9DED-93B7B386FFF0}"/>
              </a:ext>
            </a:extLst>
          </p:cNvPr>
          <p:cNvSpPr/>
          <p:nvPr/>
        </p:nvSpPr>
        <p:spPr>
          <a:xfrm>
            <a:off x="6204856" y="2909640"/>
            <a:ext cx="5689597" cy="268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solidFill>
                  <a:schemeClr val="accent1">
                    <a:lumMod val="50000"/>
                  </a:schemeClr>
                </a:solidFill>
                <a:latin typeface="Lato"/>
                <a:ea typeface="Lato"/>
                <a:cs typeface="Lato"/>
              </a:rPr>
              <a:t>EFECTO 3</a:t>
            </a:r>
            <a:endParaRPr lang="es-CO" sz="1400" b="1" dirty="0">
              <a:solidFill>
                <a:schemeClr val="accent1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1F6E3E0-3220-BF42-BF2F-5F33371E692F}"/>
              </a:ext>
            </a:extLst>
          </p:cNvPr>
          <p:cNvSpPr/>
          <p:nvPr/>
        </p:nvSpPr>
        <p:spPr>
          <a:xfrm>
            <a:off x="6204856" y="3177664"/>
            <a:ext cx="5696857" cy="61372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 b="0" i="0" dirty="0">
              <a:solidFill>
                <a:srgbClr val="000000"/>
              </a:solidFill>
              <a:effectLst/>
            </a:endParaRPr>
          </a:p>
          <a:p>
            <a:pPr algn="ctr"/>
            <a:r>
              <a:rPr lang="es-ES" sz="1200" b="0" i="0" dirty="0">
                <a:solidFill>
                  <a:srgbClr val="000000"/>
                </a:solidFill>
                <a:effectLst/>
              </a:rPr>
              <a:t>La influencia de la ley canónica ha facilitado el encubrimiento de abusos sexuales a menores dentro de la Iglesia y familias religiosas, dificultando la denuncia y la justicia debido a la falta de separación entre Iglesia y Estado.</a:t>
            </a:r>
            <a:endParaRPr lang="es-ES" sz="1200" dirty="0">
              <a:effectLst/>
            </a:endParaRPr>
          </a:p>
          <a:p>
            <a:pPr algn="ctr"/>
            <a:endParaRPr lang="es-CO" sz="1200" b="1" dirty="0">
              <a:latin typeface="Avenir Light" panose="02000503020000020003" pitchFamily="2" charset="0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E9F348D-089A-6446-9EE4-1FFCF559F02F}"/>
              </a:ext>
            </a:extLst>
          </p:cNvPr>
          <p:cNvSpPr/>
          <p:nvPr/>
        </p:nvSpPr>
        <p:spPr>
          <a:xfrm>
            <a:off x="6197595" y="2894849"/>
            <a:ext cx="493487" cy="2828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B74858D-884B-F54C-8C1D-40D6929D4DD3}"/>
              </a:ext>
            </a:extLst>
          </p:cNvPr>
          <p:cNvSpPr/>
          <p:nvPr/>
        </p:nvSpPr>
        <p:spPr>
          <a:xfrm>
            <a:off x="6183082" y="4764269"/>
            <a:ext cx="5689597" cy="2680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>
                <a:solidFill>
                  <a:srgbClr val="00482B"/>
                </a:solidFill>
                <a:latin typeface="Lato"/>
                <a:ea typeface="Lato"/>
                <a:cs typeface="Lato"/>
              </a:rPr>
              <a:t>CAUSA 1</a:t>
            </a:r>
            <a:endParaRPr lang="es-CO" sz="1400" b="1" dirty="0">
              <a:solidFill>
                <a:srgbClr val="00482B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DD323BE7-49F7-554E-A304-9EEE23E71AA4}"/>
              </a:ext>
            </a:extLst>
          </p:cNvPr>
          <p:cNvSpPr/>
          <p:nvPr/>
        </p:nvSpPr>
        <p:spPr>
          <a:xfrm>
            <a:off x="6171507" y="5026690"/>
            <a:ext cx="5696857" cy="3374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b="0" dirty="0">
                <a:solidFill>
                  <a:srgbClr val="242424"/>
                </a:solidFill>
                <a:effectLst/>
              </a:rPr>
              <a:t>La ley canónica ha influido en la legislación civil desde tiempos medievales</a:t>
            </a:r>
            <a:endParaRPr lang="es-ES" sz="1200" dirty="0">
              <a:effectLst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14821D56-FE05-7D42-A17E-6C380370DDCF}"/>
              </a:ext>
            </a:extLst>
          </p:cNvPr>
          <p:cNvSpPr/>
          <p:nvPr/>
        </p:nvSpPr>
        <p:spPr>
          <a:xfrm>
            <a:off x="6175821" y="4749478"/>
            <a:ext cx="493487" cy="28281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1E1EFBD6-B6BC-954D-857F-CCE6145BDBD0}"/>
              </a:ext>
            </a:extLst>
          </p:cNvPr>
          <p:cNvSpPr/>
          <p:nvPr/>
        </p:nvSpPr>
        <p:spPr>
          <a:xfrm>
            <a:off x="6190339" y="5363029"/>
            <a:ext cx="5689597" cy="3463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rgbClr val="00482B"/>
                </a:solidFill>
                <a:latin typeface="Lato" panose="020F0502020204030203" pitchFamily="34" charset="0"/>
              </a:rPr>
              <a:t>CAUSA 2</a:t>
            </a:r>
            <a:endParaRPr lang="es-CO" sz="1400" b="1" dirty="0">
              <a:solidFill>
                <a:srgbClr val="00482B"/>
              </a:solidFill>
              <a:latin typeface="Lato" panose="020F0502020204030203" pitchFamily="34" charset="0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D3362337-05FF-6A47-B659-80330E2D6475}"/>
              </a:ext>
            </a:extLst>
          </p:cNvPr>
          <p:cNvSpPr/>
          <p:nvPr/>
        </p:nvSpPr>
        <p:spPr>
          <a:xfrm>
            <a:off x="6190339" y="5695880"/>
            <a:ext cx="5696857" cy="3453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b="0">
                <a:solidFill>
                  <a:srgbClr val="242424"/>
                </a:solidFill>
                <a:effectLst/>
              </a:rPr>
              <a:t>En algunos países, aún influye en aspectos como el matrimonio, la educación y la bioética.</a:t>
            </a:r>
            <a:endParaRPr lang="es-ES" sz="1200">
              <a:effectLst/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02B9A421-885D-1442-BCB5-69649BB28263}"/>
              </a:ext>
            </a:extLst>
          </p:cNvPr>
          <p:cNvSpPr/>
          <p:nvPr/>
        </p:nvSpPr>
        <p:spPr>
          <a:xfrm>
            <a:off x="6183078" y="5426562"/>
            <a:ext cx="493487" cy="28281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9F6F15E3-44CB-3345-8FD8-A5D604C0BE58}"/>
              </a:ext>
            </a:extLst>
          </p:cNvPr>
          <p:cNvSpPr/>
          <p:nvPr/>
        </p:nvSpPr>
        <p:spPr>
          <a:xfrm>
            <a:off x="6190339" y="6029512"/>
            <a:ext cx="5689597" cy="3318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rgbClr val="00482B"/>
                </a:solidFill>
                <a:latin typeface="Lato" panose="020F0502020204030203" pitchFamily="34" charset="0"/>
              </a:rPr>
              <a:t>CAUSA 3</a:t>
            </a:r>
            <a:endParaRPr lang="es-CO" sz="1400" b="1" dirty="0">
              <a:solidFill>
                <a:srgbClr val="00482B"/>
              </a:solidFill>
              <a:latin typeface="Lato" panose="020F0502020204030203" pitchFamily="34" charset="0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68E70D5-CDBD-A64E-A684-E254EC503486}"/>
              </a:ext>
            </a:extLst>
          </p:cNvPr>
          <p:cNvSpPr/>
          <p:nvPr/>
        </p:nvSpPr>
        <p:spPr>
          <a:xfrm>
            <a:off x="6190339" y="6361377"/>
            <a:ext cx="5696857" cy="3318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s-ES" sz="1200" b="0">
                <a:solidFill>
                  <a:srgbClr val="242424"/>
                </a:solidFill>
                <a:effectLst/>
              </a:rPr>
              <a:t>En estados con fuerte presencia religiosa, la ley canónica puede influir en decisiones legislativas.</a:t>
            </a:r>
            <a:endParaRPr lang="es-ES" sz="1200">
              <a:effectLst/>
            </a:endParaRP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63C249B-C1A8-834B-BA96-21974D202578}"/>
              </a:ext>
            </a:extLst>
          </p:cNvPr>
          <p:cNvSpPr/>
          <p:nvPr/>
        </p:nvSpPr>
        <p:spPr>
          <a:xfrm>
            <a:off x="6183078" y="6078561"/>
            <a:ext cx="493487" cy="28281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2" name="Imagen 31" descr="Diagrama, Mapa&#10;&#10;El contenido generado por IA puede ser incorrecto.">
            <a:extLst>
              <a:ext uri="{FF2B5EF4-FFF2-40B4-BE49-F238E27FC236}">
                <a16:creationId xmlns:a16="http://schemas.microsoft.com/office/drawing/2014/main" id="{824A6A4E-893E-78E1-DB50-E689F3F6F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798069"/>
            <a:ext cx="5921828" cy="59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5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orma&#10;&#10;Descripción generada automáticamente con confianza baja">
            <a:extLst>
              <a:ext uri="{FF2B5EF4-FFF2-40B4-BE49-F238E27FC236}">
                <a16:creationId xmlns:a16="http://schemas.microsoft.com/office/drawing/2014/main" id="{79C5CF8A-CBE5-18FD-39CF-7E07CB576C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1CE072A-3CD3-FAF4-A85A-72430A584EFC}"/>
              </a:ext>
            </a:extLst>
          </p:cNvPr>
          <p:cNvSpPr txBox="1"/>
          <p:nvPr/>
        </p:nvSpPr>
        <p:spPr>
          <a:xfrm>
            <a:off x="4662120" y="334010"/>
            <a:ext cx="286775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800" b="1" dirty="0">
                <a:solidFill>
                  <a:srgbClr val="00482B"/>
                </a:solidFill>
                <a:latin typeface="Lato" panose="020F0502020204030203" pitchFamily="34" charset="0"/>
              </a:rPr>
              <a:t>LLUVIA DE SOLUCIONES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590376"/>
              </p:ext>
            </p:extLst>
          </p:nvPr>
        </p:nvGraphicFramePr>
        <p:xfrm>
          <a:off x="846273" y="1499016"/>
          <a:ext cx="10759090" cy="4081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297">
                  <a:extLst>
                    <a:ext uri="{9D8B030D-6E8A-4147-A177-3AD203B41FA5}">
                      <a16:colId xmlns:a16="http://schemas.microsoft.com/office/drawing/2014/main" val="2230216019"/>
                    </a:ext>
                  </a:extLst>
                </a:gridCol>
                <a:gridCol w="8933793">
                  <a:extLst>
                    <a:ext uri="{9D8B030D-6E8A-4147-A177-3AD203B41FA5}">
                      <a16:colId xmlns:a16="http://schemas.microsoft.com/office/drawing/2014/main" val="3539058851"/>
                    </a:ext>
                  </a:extLst>
                </a:gridCol>
              </a:tblGrid>
              <a:tr h="1216122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Lato" panose="020F0502020204030203" pitchFamily="34" charset="0"/>
                        </a:rPr>
                        <a:t>COLOCA AQUÍ LAS CAUSAS DEL DIAGRAMA</a:t>
                      </a:r>
                      <a:r>
                        <a:rPr lang="es-ES" sz="1400" baseline="0" dirty="0">
                          <a:latin typeface="Lato" panose="020F0502020204030203" pitchFamily="34" charset="0"/>
                        </a:rPr>
                        <a:t> ANTERIOR</a:t>
                      </a:r>
                      <a:endParaRPr lang="es-CO" sz="1400" dirty="0">
                        <a:latin typeface="Lato" panose="020F0502020204030203" pitchFamily="34" charset="0"/>
                      </a:endParaRPr>
                    </a:p>
                  </a:txBody>
                  <a:tcPr anchor="ctr">
                    <a:solidFill>
                      <a:srgbClr val="0048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Century Gothic" panose="020B0502020202020204" pitchFamily="34" charset="0"/>
                        </a:rPr>
                        <a:t>SOLUCIÓN PROPUESTA</a:t>
                      </a:r>
                      <a:endParaRPr lang="es-CO" sz="160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rgbClr val="004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178600"/>
                  </a:ext>
                </a:extLst>
              </a:tr>
              <a:tr h="8537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ley canónica ha influido en la legislación civil desde tiempos medievales</a:t>
                      </a:r>
                      <a:endParaRPr lang="es-ES" sz="1200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latin typeface="+mn-lt"/>
                        </a:rPr>
                        <a:t>Fomentar campañas educativas y diálogos interreligiosos que promuevan la diversidad de pensamiento</a:t>
                      </a:r>
                      <a:endParaRPr lang="es-CO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481748"/>
                  </a:ext>
                </a:extLst>
              </a:tr>
              <a:tr h="8537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 algunos países, aún influye en aspectos como el matrimonio, la educación y la bioética.</a:t>
                      </a:r>
                      <a:endParaRPr lang="es-ES" sz="1200" dirty="0">
                        <a:effectLst/>
                        <a:latin typeface="+mn-lt"/>
                      </a:endParaRPr>
                    </a:p>
                    <a:p>
                      <a:pPr algn="ctr"/>
                      <a:endParaRPr lang="es-CO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latin typeface="+mn-lt"/>
                        </a:rPr>
                        <a:t>Impulsar cambios legales para evitar la influencia de la ley canónica sobre la ley natural</a:t>
                      </a:r>
                      <a:endParaRPr lang="es-CO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91332"/>
                  </a:ext>
                </a:extLst>
              </a:tr>
              <a:tr h="8537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 estados con fuerte presencia religiosa, la ley canónica puede influir en decisiones legislativas.</a:t>
                      </a:r>
                      <a:endParaRPr lang="es-ES" sz="1200" dirty="0">
                        <a:effectLst/>
                      </a:endParaRPr>
                    </a:p>
                    <a:p>
                      <a:pPr algn="ctr"/>
                      <a:endParaRPr lang="es-CO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latin typeface="+mn-lt"/>
                        </a:rPr>
                        <a:t>Desarrollar una plataforma web interactiva que analice la influencia de leyes religiosas en la legislación nacional, utilizando </a:t>
                      </a:r>
                      <a:r>
                        <a:rPr lang="es-ES" sz="1800" dirty="0" err="1">
                          <a:latin typeface="+mn-lt"/>
                        </a:rPr>
                        <a:t>big</a:t>
                      </a:r>
                      <a:r>
                        <a:rPr lang="es-ES" sz="1800" dirty="0">
                          <a:latin typeface="+mn-lt"/>
                        </a:rPr>
                        <a:t> data y análisis de texto en leyes actuales</a:t>
                      </a:r>
                      <a:endParaRPr lang="es-CO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106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03806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orma&#10;&#10;Descripción generada automáticamente con confianza baja">
            <a:extLst>
              <a:ext uri="{FF2B5EF4-FFF2-40B4-BE49-F238E27FC236}">
                <a16:creationId xmlns:a16="http://schemas.microsoft.com/office/drawing/2014/main" id="{2FF6F3E9-C331-AEAB-D6BE-3FF1250A60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  <p:sp>
        <p:nvSpPr>
          <p:cNvPr id="24" name="Triángulo 36">
            <a:extLst>
              <a:ext uri="{FF2B5EF4-FFF2-40B4-BE49-F238E27FC236}">
                <a16:creationId xmlns:a16="http://schemas.microsoft.com/office/drawing/2014/main" id="{5742C213-612F-65B7-D5BF-16ECEBC5ED99}"/>
              </a:ext>
            </a:extLst>
          </p:cNvPr>
          <p:cNvSpPr/>
          <p:nvPr/>
        </p:nvSpPr>
        <p:spPr>
          <a:xfrm rot="16200000">
            <a:off x="6134383" y="2420445"/>
            <a:ext cx="182871" cy="184541"/>
          </a:xfrm>
          <a:prstGeom prst="triangle">
            <a:avLst/>
          </a:prstGeom>
          <a:solidFill>
            <a:srgbClr val="007B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_tradnl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231427"/>
              </p:ext>
            </p:extLst>
          </p:nvPr>
        </p:nvGraphicFramePr>
        <p:xfrm>
          <a:off x="833820" y="1288117"/>
          <a:ext cx="10937633" cy="5267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2823">
                  <a:extLst>
                    <a:ext uri="{9D8B030D-6E8A-4147-A177-3AD203B41FA5}">
                      <a16:colId xmlns:a16="http://schemas.microsoft.com/office/drawing/2014/main" val="2230216019"/>
                    </a:ext>
                  </a:extLst>
                </a:gridCol>
                <a:gridCol w="3782405">
                  <a:extLst>
                    <a:ext uri="{9D8B030D-6E8A-4147-A177-3AD203B41FA5}">
                      <a16:colId xmlns:a16="http://schemas.microsoft.com/office/drawing/2014/main" val="3539058851"/>
                    </a:ext>
                  </a:extLst>
                </a:gridCol>
                <a:gridCol w="3782405">
                  <a:extLst>
                    <a:ext uri="{9D8B030D-6E8A-4147-A177-3AD203B41FA5}">
                      <a16:colId xmlns:a16="http://schemas.microsoft.com/office/drawing/2014/main" val="444307156"/>
                    </a:ext>
                  </a:extLst>
                </a:gridCol>
              </a:tblGrid>
              <a:tr h="486684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Lato" panose="020F0502020204030203" pitchFamily="34" charset="0"/>
                        </a:rPr>
                        <a:t>SOLUCIÓN PROPUESTA EN LA TABLA</a:t>
                      </a:r>
                      <a:r>
                        <a:rPr lang="es-ES" sz="1400" baseline="0" dirty="0">
                          <a:latin typeface="Lato" panose="020F0502020204030203" pitchFamily="34" charset="0"/>
                        </a:rPr>
                        <a:t> ANTERIOR</a:t>
                      </a:r>
                      <a:endParaRPr lang="es-CO" sz="1400" dirty="0">
                        <a:latin typeface="Lato" panose="020F0502020204030203" pitchFamily="34" charset="0"/>
                      </a:endParaRPr>
                    </a:p>
                  </a:txBody>
                  <a:tcPr>
                    <a:solidFill>
                      <a:srgbClr val="0048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Lato" panose="020F0502020204030203" pitchFamily="34" charset="0"/>
                        </a:rPr>
                        <a:t>VENTAJA</a:t>
                      </a:r>
                      <a:endParaRPr lang="es-CO" sz="1400" dirty="0">
                        <a:latin typeface="Lato" panose="020F0502020204030203" pitchFamily="34" charset="0"/>
                      </a:endParaRPr>
                    </a:p>
                  </a:txBody>
                  <a:tcPr>
                    <a:solidFill>
                      <a:srgbClr val="0048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Lato" panose="020F0502020204030203" pitchFamily="34" charset="0"/>
                        </a:rPr>
                        <a:t>DESVENTAJA</a:t>
                      </a:r>
                      <a:endParaRPr lang="es-CO" sz="1400" dirty="0">
                        <a:latin typeface="Lato" panose="020F0502020204030203" pitchFamily="34" charset="0"/>
                      </a:endParaRPr>
                    </a:p>
                  </a:txBody>
                  <a:tcPr>
                    <a:solidFill>
                      <a:srgbClr val="004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178600"/>
                  </a:ext>
                </a:extLst>
              </a:tr>
              <a:tr h="152217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+mn-lt"/>
                        </a:rPr>
                        <a:t>Fomentar campañas educativas y diálogos interreligiosos que promuevan la diversidad de pensamiento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+mn-lt"/>
                        </a:rPr>
                        <a:t>Permite  considerar múltiples perspectivas    y fuentes del pensamiento es una  solución dedicada a permitir un diálogo más apropiado   para la mediación de diferentes problemas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+mn-lt"/>
                        </a:rPr>
                        <a:t>Puede ser fuente de conflicto entre los grupos  o población más radicales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481748"/>
                  </a:ext>
                </a:extLst>
              </a:tr>
              <a:tr h="17048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latin typeface="+mn-lt"/>
                        </a:rPr>
                        <a:t>Impulsar cambios legales para evitar la influencia de la ley canónica sobre la ley natural</a:t>
                      </a:r>
                      <a:endParaRPr lang="es-CO" sz="1400" dirty="0">
                        <a:latin typeface="+mn-lt"/>
                      </a:endParaRPr>
                    </a:p>
                    <a:p>
                      <a:pPr algn="ctr"/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+mn-lt"/>
                        </a:rPr>
                        <a:t>Permitiría una definición más clara de la jurisdicción de ambas entidades legales evitando el conflicto de acción por discrepancias debido a cuestiones legales de acción y procedimientos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+mn-lt"/>
                        </a:rPr>
                        <a:t>Si son mal gestionados y no se estructuran de forma adecuada  puede generar  problemas  burocráticos importantes por cuestiones de interés y procedimientos a seguir  dependiendo de la situación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91332"/>
                  </a:ext>
                </a:extLst>
              </a:tr>
              <a:tr h="15221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latin typeface="+mn-lt"/>
                        </a:rPr>
                        <a:t>Desarrollar una plataforma web interactiva que analice la influencia de leyes religiosas en la legislación nacional, utilizando </a:t>
                      </a:r>
                      <a:r>
                        <a:rPr lang="es-ES" sz="1400" dirty="0" err="1">
                          <a:latin typeface="+mn-lt"/>
                        </a:rPr>
                        <a:t>big</a:t>
                      </a:r>
                      <a:r>
                        <a:rPr lang="es-ES" sz="1400" dirty="0">
                          <a:latin typeface="+mn-lt"/>
                        </a:rPr>
                        <a:t> data y análisis de texto en leyes actuales</a:t>
                      </a:r>
                      <a:endParaRPr lang="es-CO" sz="1400" dirty="0">
                        <a:latin typeface="+mn-lt"/>
                      </a:endParaRPr>
                    </a:p>
                    <a:p>
                      <a:pPr algn="ctr"/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+mn-lt"/>
                        </a:rPr>
                        <a:t>Permite el acceso apropiado a diferentes   aspectos de esta problemática al tener un sitio focalizado y especializado en la explicación y  presentación de toda la información pertinente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+mn-lt"/>
                        </a:rPr>
                        <a:t>Puede provocarse un error de información y  compartirse información que pueda ser no verificada o relevante de forma apropiada para la problemática</a:t>
                      </a:r>
                      <a:endParaRPr lang="es-CO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106910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EDB5B843-52C8-A3B4-FB6E-3277E9BF877D}"/>
              </a:ext>
            </a:extLst>
          </p:cNvPr>
          <p:cNvSpPr txBox="1"/>
          <p:nvPr/>
        </p:nvSpPr>
        <p:spPr>
          <a:xfrm>
            <a:off x="4522122" y="259060"/>
            <a:ext cx="314775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800" b="1" dirty="0">
                <a:solidFill>
                  <a:srgbClr val="00482B"/>
                </a:solidFill>
                <a:latin typeface="Lato" panose="020F0502020204030203" pitchFamily="34" charset="0"/>
              </a:rPr>
              <a:t>ANÁLISIS DE LAS SOLUCIONES</a:t>
            </a:r>
          </a:p>
        </p:txBody>
      </p:sp>
    </p:spTree>
    <p:extLst>
      <p:ext uri="{BB962C8B-B14F-4D97-AF65-F5344CB8AC3E}">
        <p14:creationId xmlns:p14="http://schemas.microsoft.com/office/powerpoint/2010/main" val="328890506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&#10;&#10;Descripción generada automáticamente con confianza baja">
            <a:extLst>
              <a:ext uri="{FF2B5EF4-FFF2-40B4-BE49-F238E27FC236}">
                <a16:creationId xmlns:a16="http://schemas.microsoft.com/office/drawing/2014/main" id="{29803798-9198-FE5E-BBD3-23EF8210F2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221615"/>
              </p:ext>
            </p:extLst>
          </p:nvPr>
        </p:nvGraphicFramePr>
        <p:xfrm>
          <a:off x="489396" y="679150"/>
          <a:ext cx="11333410" cy="6022919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390368">
                  <a:extLst>
                    <a:ext uri="{9D8B030D-6E8A-4147-A177-3AD203B41FA5}">
                      <a16:colId xmlns:a16="http://schemas.microsoft.com/office/drawing/2014/main" val="4252932385"/>
                    </a:ext>
                  </a:extLst>
                </a:gridCol>
                <a:gridCol w="1909366">
                  <a:extLst>
                    <a:ext uri="{9D8B030D-6E8A-4147-A177-3AD203B41FA5}">
                      <a16:colId xmlns:a16="http://schemas.microsoft.com/office/drawing/2014/main" val="492372798"/>
                    </a:ext>
                  </a:extLst>
                </a:gridCol>
                <a:gridCol w="2551453">
                  <a:extLst>
                    <a:ext uri="{9D8B030D-6E8A-4147-A177-3AD203B41FA5}">
                      <a16:colId xmlns:a16="http://schemas.microsoft.com/office/drawing/2014/main" val="3731033836"/>
                    </a:ext>
                  </a:extLst>
                </a:gridCol>
                <a:gridCol w="2394874">
                  <a:extLst>
                    <a:ext uri="{9D8B030D-6E8A-4147-A177-3AD203B41FA5}">
                      <a16:colId xmlns:a16="http://schemas.microsoft.com/office/drawing/2014/main" val="495402211"/>
                    </a:ext>
                  </a:extLst>
                </a:gridCol>
                <a:gridCol w="2087349">
                  <a:extLst>
                    <a:ext uri="{9D8B030D-6E8A-4147-A177-3AD203B41FA5}">
                      <a16:colId xmlns:a16="http://schemas.microsoft.com/office/drawing/2014/main" val="119345604"/>
                    </a:ext>
                  </a:extLst>
                </a:gridCol>
              </a:tblGrid>
              <a:tr h="949260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MX" sz="1800" dirty="0">
                          <a:effectLst/>
                          <a:latin typeface="Lato" panose="020F0502020204030203" pitchFamily="34" charset="0"/>
                        </a:rPr>
                        <a:t>Delimitación</a:t>
                      </a:r>
                      <a:r>
                        <a:rPr lang="es-MX" sz="1800" baseline="0" dirty="0">
                          <a:effectLst/>
                          <a:latin typeface="Lato" panose="020F0502020204030203" pitchFamily="34" charset="0"/>
                        </a:rPr>
                        <a:t> social: ¿Dónde voy a implementar mi propuesta de solución?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MX" sz="1800" baseline="0" dirty="0">
                        <a:effectLst/>
                      </a:endParaRPr>
                    </a:p>
                  </a:txBody>
                  <a:tcPr marL="57940" marR="57940" marT="0" marB="0" anchor="ctr">
                    <a:solidFill>
                      <a:srgbClr val="00482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extLst>
                  <a:ext uri="{0D108BD9-81ED-4DB2-BD59-A6C34878D82A}">
                    <a16:rowId xmlns:a16="http://schemas.microsoft.com/office/drawing/2014/main" val="3046414707"/>
                  </a:ext>
                </a:extLst>
              </a:tr>
              <a:tr h="135357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2000" dirty="0">
                          <a:effectLst/>
                          <a:latin typeface="Lato" panose="020F0502020204030203" pitchFamily="34" charset="0"/>
                        </a:rPr>
                        <a:t>ACTIVIDADES</a:t>
                      </a:r>
                      <a:endParaRPr lang="es-CO" sz="1800" dirty="0"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581015" algn="l"/>
                        </a:tabLst>
                        <a:defRPr/>
                      </a:pPr>
                      <a:r>
                        <a:rPr lang="es-ES" sz="1800" dirty="0">
                          <a:effectLst/>
                          <a:latin typeface="Lato" panose="020F0502020204030203" pitchFamily="34" charset="0"/>
                        </a:rPr>
                        <a:t>RECURSOS A UTILIZAR</a:t>
                      </a:r>
                      <a:endParaRPr lang="es-CO" sz="1600" dirty="0"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MX" sz="1800" dirty="0">
                          <a:effectLst/>
                          <a:latin typeface="Lato" panose="020F0502020204030203" pitchFamily="34" charset="0"/>
                        </a:rPr>
                        <a:t>DURACIÓN</a:t>
                      </a:r>
                      <a:endParaRPr lang="es-CO" sz="1800" dirty="0"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MX" sz="1800" dirty="0">
                          <a:effectLst/>
                          <a:latin typeface="Lato" panose="020F0502020204030203" pitchFamily="34" charset="0"/>
                        </a:rPr>
                        <a:t>RESPONSABLES</a:t>
                      </a:r>
                      <a:endParaRPr lang="es-CO" sz="1800" dirty="0"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2000" dirty="0">
                          <a:effectLst/>
                          <a:latin typeface="Lato" panose="020F0502020204030203" pitchFamily="34" charset="0"/>
                        </a:rPr>
                        <a:t>PRODUCTO</a:t>
                      </a:r>
                      <a:endParaRPr lang="es-CO" sz="1800" dirty="0"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extLst>
                  <a:ext uri="{0D108BD9-81ED-4DB2-BD59-A6C34878D82A}">
                    <a16:rowId xmlns:a16="http://schemas.microsoft.com/office/drawing/2014/main" val="781311332"/>
                  </a:ext>
                </a:extLst>
              </a:tr>
              <a:tr h="135357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4800" dirty="0">
                          <a:effectLst/>
                          <a:latin typeface="+mn-lt"/>
                        </a:rPr>
                        <a:t> </a:t>
                      </a:r>
                      <a:r>
                        <a:rPr lang="es-ES" sz="2400" dirty="0">
                          <a:effectLst/>
                          <a:latin typeface="+mn-lt"/>
                        </a:rPr>
                        <a:t>Desarrollar plataforma interactiva web</a:t>
                      </a:r>
                      <a:endParaRPr lang="es-C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1400" dirty="0">
                          <a:effectLst/>
                          <a:latin typeface="+mn-lt"/>
                        </a:rPr>
                        <a:t> Equipos de computo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Conocimiento en programación web, de bases de datos.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Recursos económicos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581015" algn="l"/>
                        </a:tabLst>
                        <a:defRPr/>
                      </a:pPr>
                      <a:r>
                        <a:rPr lang="es-ES" sz="3200" dirty="0">
                          <a:effectLst/>
                          <a:latin typeface="+mn-lt"/>
                        </a:rPr>
                        <a:t>  </a:t>
                      </a:r>
                      <a:r>
                        <a:rPr lang="es-ES" sz="3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 a 8 meses</a:t>
                      </a:r>
                      <a:endParaRPr lang="es-CO" sz="3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3200" dirty="0">
                          <a:effectLst/>
                          <a:latin typeface="+mn-lt"/>
                        </a:rPr>
                        <a:t> </a:t>
                      </a:r>
                      <a:r>
                        <a:rPr lang="es-ES" sz="1800" dirty="0">
                          <a:effectLst/>
                          <a:latin typeface="+mn-lt"/>
                        </a:rPr>
                        <a:t>Equipo de desarrollo para la creación de la plataforma</a:t>
                      </a:r>
                      <a:endParaRPr lang="es-CO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3200" dirty="0">
                          <a:effectLst/>
                          <a:latin typeface="+mn-lt"/>
                        </a:rPr>
                        <a:t> </a:t>
                      </a:r>
                      <a:r>
                        <a:rPr lang="es-ES" sz="1800" dirty="0">
                          <a:effectLst/>
                          <a:latin typeface="+mn-lt"/>
                        </a:rPr>
                        <a:t>Plataforma web interactiva</a:t>
                      </a:r>
                      <a:endParaRPr lang="es-CO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/>
                </a:tc>
                <a:extLst>
                  <a:ext uri="{0D108BD9-81ED-4DB2-BD59-A6C34878D82A}">
                    <a16:rowId xmlns:a16="http://schemas.microsoft.com/office/drawing/2014/main" val="2441817482"/>
                  </a:ext>
                </a:extLst>
              </a:tr>
              <a:tr h="135357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3200" dirty="0">
                          <a:effectLst/>
                          <a:latin typeface="+mn-lt"/>
                        </a:rPr>
                        <a:t> </a:t>
                      </a:r>
                      <a:r>
                        <a:rPr lang="es-ES" sz="2400" dirty="0">
                          <a:effectLst/>
                          <a:latin typeface="+mn-lt"/>
                        </a:rPr>
                        <a:t>Fomentar campaña educativa</a:t>
                      </a:r>
                      <a:endParaRPr lang="es-CO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3200" dirty="0">
                          <a:effectLst/>
                          <a:latin typeface="+mn-lt"/>
                        </a:rPr>
                        <a:t> </a:t>
                      </a:r>
                      <a:r>
                        <a:rPr lang="es-ES" sz="1400" dirty="0">
                          <a:effectLst/>
                          <a:latin typeface="+mn-lt"/>
                        </a:rPr>
                        <a:t>Material educativo(videos, </a:t>
                      </a:r>
                      <a:r>
                        <a:rPr lang="es-ES" sz="1400" dirty="0" err="1">
                          <a:effectLst/>
                          <a:latin typeface="+mn-lt"/>
                        </a:rPr>
                        <a:t>infografías,etc</a:t>
                      </a:r>
                      <a:r>
                        <a:rPr lang="es-ES" sz="1400" dirty="0">
                          <a:effectLst/>
                          <a:latin typeface="+mn-lt"/>
                        </a:rPr>
                        <a:t>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1400" dirty="0">
                          <a:effectLst/>
                          <a:latin typeface="+mn-lt"/>
                        </a:rPr>
                        <a:t>Redes sociales, conferencias, foros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1400" dirty="0">
                          <a:effectLst/>
                          <a:latin typeface="+mn-lt"/>
                        </a:rPr>
                        <a:t>Expertos en derecho canónico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581015" algn="l"/>
                        </a:tabLst>
                        <a:defRPr/>
                      </a:pPr>
                      <a:r>
                        <a:rPr lang="es-ES" sz="3200" dirty="0">
                          <a:effectLst/>
                          <a:latin typeface="+mn-lt"/>
                        </a:rPr>
                        <a:t> </a:t>
                      </a:r>
                      <a:r>
                        <a:rPr lang="es-CO" sz="3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a 6 meses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3200" dirty="0">
                          <a:effectLst/>
                          <a:latin typeface="+mn-lt"/>
                        </a:rPr>
                        <a:t> </a:t>
                      </a:r>
                      <a:r>
                        <a:rPr lang="es-ES" sz="1800" dirty="0">
                          <a:effectLst/>
                          <a:latin typeface="+mn-lt"/>
                        </a:rPr>
                        <a:t>Equipo de divulgación e investigación</a:t>
                      </a:r>
                      <a:endParaRPr lang="es-CO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3200" dirty="0">
                          <a:effectLst/>
                          <a:latin typeface="+mn-lt"/>
                        </a:rPr>
                        <a:t> </a:t>
                      </a:r>
                      <a:r>
                        <a:rPr lang="es-ES" sz="1800" dirty="0">
                          <a:effectLst/>
                          <a:latin typeface="+mn-lt"/>
                        </a:rPr>
                        <a:t>Material informativo y eventos educativos</a:t>
                      </a:r>
                      <a:endParaRPr lang="es-CO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/>
                </a:tc>
                <a:extLst>
                  <a:ext uri="{0D108BD9-81ED-4DB2-BD59-A6C34878D82A}">
                    <a16:rowId xmlns:a16="http://schemas.microsoft.com/office/drawing/2014/main" val="1072187563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4E11AC69-CA6B-30CE-1A3D-C62BF665660F}"/>
              </a:ext>
            </a:extLst>
          </p:cNvPr>
          <p:cNvSpPr txBox="1"/>
          <p:nvPr/>
        </p:nvSpPr>
        <p:spPr>
          <a:xfrm>
            <a:off x="2936549" y="0"/>
            <a:ext cx="643910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800" b="1" dirty="0">
                <a:solidFill>
                  <a:srgbClr val="00482B"/>
                </a:solidFill>
                <a:latin typeface="Lato" panose="020F0502020204030203" pitchFamily="34" charset="0"/>
              </a:rPr>
              <a:t>PLANIFICACIÓN DE SOLUCIONES</a:t>
            </a:r>
          </a:p>
        </p:txBody>
      </p:sp>
    </p:spTree>
    <p:extLst>
      <p:ext uri="{BB962C8B-B14F-4D97-AF65-F5344CB8AC3E}">
        <p14:creationId xmlns:p14="http://schemas.microsoft.com/office/powerpoint/2010/main" val="82801102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Descripción generada automáticamente con confianza baja">
            <a:extLst>
              <a:ext uri="{FF2B5EF4-FFF2-40B4-BE49-F238E27FC236}">
                <a16:creationId xmlns:a16="http://schemas.microsoft.com/office/drawing/2014/main" id="{83F02291-6219-C8CA-49DC-CC4A85A7C2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13D77E3-45C0-97DB-058F-EBEC81F48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931290"/>
              </p:ext>
            </p:extLst>
          </p:nvPr>
        </p:nvGraphicFramePr>
        <p:xfrm>
          <a:off x="399287" y="2571840"/>
          <a:ext cx="1139342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8685">
                  <a:extLst>
                    <a:ext uri="{9D8B030D-6E8A-4147-A177-3AD203B41FA5}">
                      <a16:colId xmlns:a16="http://schemas.microsoft.com/office/drawing/2014/main" val="3585286924"/>
                    </a:ext>
                  </a:extLst>
                </a:gridCol>
                <a:gridCol w="2278685">
                  <a:extLst>
                    <a:ext uri="{9D8B030D-6E8A-4147-A177-3AD203B41FA5}">
                      <a16:colId xmlns:a16="http://schemas.microsoft.com/office/drawing/2014/main" val="4004779155"/>
                    </a:ext>
                  </a:extLst>
                </a:gridCol>
                <a:gridCol w="2278685">
                  <a:extLst>
                    <a:ext uri="{9D8B030D-6E8A-4147-A177-3AD203B41FA5}">
                      <a16:colId xmlns:a16="http://schemas.microsoft.com/office/drawing/2014/main" val="1113905318"/>
                    </a:ext>
                  </a:extLst>
                </a:gridCol>
                <a:gridCol w="2278685">
                  <a:extLst>
                    <a:ext uri="{9D8B030D-6E8A-4147-A177-3AD203B41FA5}">
                      <a16:colId xmlns:a16="http://schemas.microsoft.com/office/drawing/2014/main" val="4268670798"/>
                    </a:ext>
                  </a:extLst>
                </a:gridCol>
                <a:gridCol w="2278685">
                  <a:extLst>
                    <a:ext uri="{9D8B030D-6E8A-4147-A177-3AD203B41FA5}">
                      <a16:colId xmlns:a16="http://schemas.microsoft.com/office/drawing/2014/main" val="1864046191"/>
                    </a:ext>
                  </a:extLst>
                </a:gridCol>
              </a:tblGrid>
              <a:tr h="16369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400" dirty="0">
                          <a:solidFill>
                            <a:schemeClr val="tx1"/>
                          </a:solidFill>
                        </a:rPr>
                        <a:t>Impulsar cambios legales para evitar la influencia de la ley canónica sobre la ley natural</a:t>
                      </a:r>
                      <a:endParaRPr lang="es-CO" sz="2400" dirty="0">
                        <a:solidFill>
                          <a:schemeClr val="tx1"/>
                        </a:solidFill>
                      </a:endParaRPr>
                    </a:p>
                    <a:p>
                      <a:endParaRPr lang="es-CO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0" dirty="0">
                          <a:solidFill>
                            <a:schemeClr val="tx1"/>
                          </a:solidFill>
                        </a:rPr>
                        <a:t>Análisis jurídico y corporativo</a:t>
                      </a:r>
                    </a:p>
                    <a:p>
                      <a:r>
                        <a:rPr lang="es-CO" sz="1400" b="0" dirty="0">
                          <a:solidFill>
                            <a:schemeClr val="tx1"/>
                          </a:solidFill>
                        </a:rPr>
                        <a:t>Asesoría de expertos en derecho canónico, filosofía y derecho constitucional.</a:t>
                      </a:r>
                    </a:p>
                    <a:p>
                      <a:r>
                        <a:rPr lang="es-CO" sz="1400" b="0" dirty="0">
                          <a:solidFill>
                            <a:schemeClr val="tx1"/>
                          </a:solidFill>
                        </a:rPr>
                        <a:t>Acceso a documentación y archivos históricos</a:t>
                      </a:r>
                    </a:p>
                    <a:p>
                      <a:r>
                        <a:rPr lang="es-CO" sz="1400" b="0" dirty="0">
                          <a:solidFill>
                            <a:schemeClr val="tx1"/>
                          </a:solidFill>
                        </a:rPr>
                        <a:t>Redes de apoyo jurídicas</a:t>
                      </a:r>
                    </a:p>
                    <a:p>
                      <a:endParaRPr lang="es-CO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3200" b="0" dirty="0">
                          <a:solidFill>
                            <a:schemeClr val="tx1"/>
                          </a:solidFill>
                        </a:rPr>
                        <a:t>6 a 12 Meses</a:t>
                      </a:r>
                    </a:p>
                    <a:p>
                      <a:endParaRPr lang="es-CO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dirty="0">
                          <a:solidFill>
                            <a:schemeClr val="tx1"/>
                          </a:solidFill>
                        </a:rPr>
                        <a:t>Grupo de juristas, legisladores y expertos en derecho natural y constitucional</a:t>
                      </a:r>
                      <a:r>
                        <a:rPr lang="es-MX" dirty="0"/>
                        <a:t>.</a:t>
                      </a:r>
                      <a:endParaRPr lang="es-CO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0" dirty="0">
                          <a:solidFill>
                            <a:schemeClr val="tx1"/>
                          </a:solidFill>
                        </a:rPr>
                        <a:t>-Propuestas de reforma legal</a:t>
                      </a:r>
                    </a:p>
                    <a:p>
                      <a:r>
                        <a:rPr lang="es-MX" sz="1800" b="0" dirty="0">
                          <a:solidFill>
                            <a:schemeClr val="tx1"/>
                          </a:solidFill>
                        </a:rPr>
                        <a:t>-Documentos de divulgación para concientización pública.</a:t>
                      </a:r>
                      <a:endParaRPr lang="es-CO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792599"/>
                  </a:ext>
                </a:extLst>
              </a:tr>
            </a:tbl>
          </a:graphicData>
        </a:graphic>
      </p:graphicFrame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7C73F36-6CA6-08A8-1FAC-4776F8271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79393"/>
              </p:ext>
            </p:extLst>
          </p:nvPr>
        </p:nvGraphicFramePr>
        <p:xfrm>
          <a:off x="399286" y="269006"/>
          <a:ext cx="11393426" cy="2302834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403026">
                  <a:extLst>
                    <a:ext uri="{9D8B030D-6E8A-4147-A177-3AD203B41FA5}">
                      <a16:colId xmlns:a16="http://schemas.microsoft.com/office/drawing/2014/main" val="2694269898"/>
                    </a:ext>
                  </a:extLst>
                </a:gridCol>
                <a:gridCol w="1919477">
                  <a:extLst>
                    <a:ext uri="{9D8B030D-6E8A-4147-A177-3AD203B41FA5}">
                      <a16:colId xmlns:a16="http://schemas.microsoft.com/office/drawing/2014/main" val="1423075311"/>
                    </a:ext>
                  </a:extLst>
                </a:gridCol>
                <a:gridCol w="2564964">
                  <a:extLst>
                    <a:ext uri="{9D8B030D-6E8A-4147-A177-3AD203B41FA5}">
                      <a16:colId xmlns:a16="http://schemas.microsoft.com/office/drawing/2014/main" val="3106146974"/>
                    </a:ext>
                  </a:extLst>
                </a:gridCol>
                <a:gridCol w="2407556">
                  <a:extLst>
                    <a:ext uri="{9D8B030D-6E8A-4147-A177-3AD203B41FA5}">
                      <a16:colId xmlns:a16="http://schemas.microsoft.com/office/drawing/2014/main" val="4233083706"/>
                    </a:ext>
                  </a:extLst>
                </a:gridCol>
                <a:gridCol w="2098403">
                  <a:extLst>
                    <a:ext uri="{9D8B030D-6E8A-4147-A177-3AD203B41FA5}">
                      <a16:colId xmlns:a16="http://schemas.microsoft.com/office/drawing/2014/main" val="1361842172"/>
                    </a:ext>
                  </a:extLst>
                </a:gridCol>
              </a:tblGrid>
              <a:tr h="949260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MX" sz="1800" dirty="0">
                          <a:effectLst/>
                          <a:latin typeface="Lato" panose="020F0502020204030203" pitchFamily="34" charset="0"/>
                        </a:rPr>
                        <a:t>Delimitación</a:t>
                      </a:r>
                      <a:r>
                        <a:rPr lang="es-MX" sz="1800" baseline="0" dirty="0">
                          <a:effectLst/>
                          <a:latin typeface="Lato" panose="020F0502020204030203" pitchFamily="34" charset="0"/>
                        </a:rPr>
                        <a:t> social: ¿Dónde voy a implementar mi propuesta de solución?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MX" sz="1800" baseline="0" dirty="0">
                        <a:effectLst/>
                      </a:endParaRPr>
                    </a:p>
                  </a:txBody>
                  <a:tcPr marL="57940" marR="57940" marT="0" marB="0" anchor="ctr">
                    <a:solidFill>
                      <a:srgbClr val="00482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endParaRPr lang="es-CO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extLst>
                  <a:ext uri="{0D108BD9-81ED-4DB2-BD59-A6C34878D82A}">
                    <a16:rowId xmlns:a16="http://schemas.microsoft.com/office/drawing/2014/main" val="3384230001"/>
                  </a:ext>
                </a:extLst>
              </a:tr>
              <a:tr h="135357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2000" dirty="0">
                          <a:effectLst/>
                          <a:latin typeface="Lato" panose="020F0502020204030203" pitchFamily="34" charset="0"/>
                        </a:rPr>
                        <a:t>ACTIVIDADES</a:t>
                      </a:r>
                      <a:endParaRPr lang="es-CO" sz="1800" dirty="0"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581015" algn="l"/>
                        </a:tabLst>
                        <a:defRPr/>
                      </a:pPr>
                      <a:r>
                        <a:rPr lang="es-ES" sz="1800" dirty="0">
                          <a:effectLst/>
                          <a:latin typeface="Lato" panose="020F0502020204030203" pitchFamily="34" charset="0"/>
                        </a:rPr>
                        <a:t>RECURSOS A UTILIZAR</a:t>
                      </a:r>
                      <a:endParaRPr lang="es-CO" sz="1600" dirty="0"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MX" sz="1800" dirty="0">
                          <a:effectLst/>
                          <a:latin typeface="Lato" panose="020F0502020204030203" pitchFamily="34" charset="0"/>
                        </a:rPr>
                        <a:t>DURACIÓN</a:t>
                      </a:r>
                      <a:endParaRPr lang="es-CO" sz="1800" dirty="0"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MX" sz="1800" dirty="0">
                          <a:effectLst/>
                          <a:latin typeface="Lato" panose="020F0502020204030203" pitchFamily="34" charset="0"/>
                        </a:rPr>
                        <a:t>RESPONSABLES</a:t>
                      </a:r>
                      <a:endParaRPr lang="es-CO" sz="1800" dirty="0"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581015" algn="l"/>
                        </a:tabLst>
                      </a:pPr>
                      <a:r>
                        <a:rPr lang="es-ES" sz="2000" dirty="0">
                          <a:effectLst/>
                          <a:latin typeface="Lato" panose="020F0502020204030203" pitchFamily="34" charset="0"/>
                        </a:rPr>
                        <a:t>PRODUCTO</a:t>
                      </a:r>
                      <a:endParaRPr lang="es-CO" sz="1800" dirty="0"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40" marR="57940" marT="0" marB="0" anchor="ctr"/>
                </a:tc>
                <a:extLst>
                  <a:ext uri="{0D108BD9-81ED-4DB2-BD59-A6C34878D82A}">
                    <a16:rowId xmlns:a16="http://schemas.microsoft.com/office/drawing/2014/main" val="4273473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8165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Verde amarillo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8EAC3530-8AC4-D74F-B296-6919681390F8}" vid="{D9E13034-D17A-6D46-A2BB-C0DDB8737C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6fc3079-e523-4c80-8c2a-e413cc759f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67E171E9219944B7F503D99BD87543" ma:contentTypeVersion="15" ma:contentTypeDescription="Create a new document." ma:contentTypeScope="" ma:versionID="6fca0aaaece3da063f2e0ff21c1e61c7">
  <xsd:schema xmlns:xsd="http://www.w3.org/2001/XMLSchema" xmlns:xs="http://www.w3.org/2001/XMLSchema" xmlns:p="http://schemas.microsoft.com/office/2006/metadata/properties" xmlns:ns3="d6fc3079-e523-4c80-8c2a-e413cc759f61" xmlns:ns4="79a5fe19-fc10-4c2d-9cbf-04ba81806ded" targetNamespace="http://schemas.microsoft.com/office/2006/metadata/properties" ma:root="true" ma:fieldsID="be30fb6a5ff8cf11e8132bf4a12bb9c5" ns3:_="" ns4:_="">
    <xsd:import namespace="d6fc3079-e523-4c80-8c2a-e413cc759f61"/>
    <xsd:import namespace="79a5fe19-fc10-4c2d-9cbf-04ba81806d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c3079-e523-4c80-8c2a-e413cc759f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a5fe19-fc10-4c2d-9cbf-04ba81806de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2C4BBD-72F2-45F9-8992-38169C6EB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33AD44-286F-428D-8E2E-5366C30051D1}">
  <ds:schemaRefs>
    <ds:schemaRef ds:uri="http://schemas.microsoft.com/office/2006/metadata/properties"/>
    <ds:schemaRef ds:uri="http://www.w3.org/2000/xmlns/"/>
    <ds:schemaRef ds:uri="d6fc3079-e523-4c80-8c2a-e413cc759f61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4C1B4A8-A0F1-458D-9FBD-069D5C76CC0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6fc3079-e523-4c80-8c2a-e413cc759f61"/>
    <ds:schemaRef ds:uri="79a5fe19-fc10-4c2d-9cbf-04ba81806de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Plantilla_2022_UCUNDINAMARCA</Template>
  <TotalTime>5972</TotalTime>
  <Words>670</Words>
  <Application>Microsoft Office PowerPoint</Application>
  <PresentationFormat>Panorámica</PresentationFormat>
  <Paragraphs>75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Avenir Light</vt:lpstr>
      <vt:lpstr>Calibri</vt:lpstr>
      <vt:lpstr>Century Gothic</vt:lpstr>
      <vt:lpstr>Lato</vt:lpstr>
      <vt:lpstr>Tema de Office</vt:lpstr>
      <vt:lpstr>Actividad:  Árbol de problemas ¡Soy UCundinamarca, soy ciudadano del Siglo 21!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Evidencias Plan de acción 3 Trimestre 2022 - Oficina de Comunicaciones</dc:title>
  <dc:creator>Webmaster Oficina Asesora de Comunicaciones</dc:creator>
  <cp:lastModifiedBy>cristian ruiz</cp:lastModifiedBy>
  <cp:revision>96</cp:revision>
  <dcterms:created xsi:type="dcterms:W3CDTF">2022-09-03T02:33:11Z</dcterms:created>
  <dcterms:modified xsi:type="dcterms:W3CDTF">2025-05-17T02:22:19Z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0x0101004567E171E9219944B7F503D99BD87543</vt:lpwstr>
  </property>
  <property fmtid="{D5CDD505-2E9C-101B-9397-08002B2CF9AE}" pid="3" name="ArticulateGUID">
    <vt:lpwstr>C55CA9D9-433A-4DF5-A267-1962DE1EC9B2</vt:lpwstr>
  </property>
  <property fmtid="{D5CDD505-2E9C-101B-9397-08002B2CF9AE}" pid="4" name="ArticulatePath">
    <vt:lpwstr>Árbol de problemas y soluciones.</vt:lpwstr>
  </property>
</Properties>
</file>